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47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897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B6785-C88F-8184-FF8A-F72A53B32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B150B-0DC8-C06E-4CDC-0362ACFD74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8CCFA-CFB0-646D-8B28-8FFABEDC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7AF29-EAB1-AAF4-7621-D997E390F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FE838-CDC9-28BF-6C28-CB7EE0801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5968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70EF-D7E8-3C17-A808-78BB3A226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E10F9-C365-2070-EBA9-08A54FAB7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E9A39-31BB-2896-5A6F-E8BE5C555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0E616-64BF-F759-E7C6-5D19E036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16AF5-0694-B0FE-B0D8-42362D455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9170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F6E6-0CC8-AB4E-C576-46D5FE5B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852B7-2997-90A0-8E68-9265AA817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7DDEF-F5CE-F064-4998-119D8164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8D3C2-7512-9D20-1FA5-B269101A7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88E11-311D-2B53-8E29-F9E482783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1359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F4886-99E9-474F-04D4-F4E51FB7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86B2-E3B4-06A3-D148-DE7C1CCC0C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5C55F-DF2E-37AE-C71C-5D9D71AD3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E72C2D-86A8-8AC8-6913-5B5EA797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07018-C541-3463-E802-9DE18844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63632-8209-6E48-B078-0ACFDC39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25868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5EBF1-3AEF-A15E-604F-18093C52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4F66E-CB0B-A0D2-517E-709AE81EF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AA818-E0A6-3CFB-AAD2-37CC9C8C1B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3E39D2-512E-7F7C-01DF-F039A311B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3DFEB-4534-6F48-E709-B6E33F38B9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7721C-03BD-3D1C-C430-B73559BF0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43C2BB-276B-BFAD-FCD2-225E2DE25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4F207B-C030-DC2A-0998-BEC1DB85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82351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726C-808A-83A5-4964-3C34178BE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1DF44-7506-3251-7E3F-48A96DAD8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DC1A0-7100-DC66-D056-76F20EB95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56A5E-1871-26E9-A419-AB1FE5864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1213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83239E-2861-8CE8-9D9E-FC799AC9E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53AA02-A9AA-4BBC-EAC3-8454F7A4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26972-C35F-72EA-0CBC-2D48A9A3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199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FCD1C-D856-5F5B-CD6B-C1026BD2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5FCF-4552-A4D4-F6E3-517B01ABB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7F757-4348-CCA5-5A3A-6B36F5FE94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DAB16-4200-21AC-B6EE-1A3A0FB7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EBEB2-1647-CC6C-B9C2-FC2DC75B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602E8-C9C5-120E-1826-B6C548B42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755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C003-8D78-4AD8-1FD9-F4EDB00A9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89E2F0-7F65-AB58-5E84-A8628EC41A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F2CE9-403D-FC76-D930-77C5417C9E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FBE87-BBC5-A363-8589-EAEF34D41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E9275-9010-FE2A-FFCB-0F6D98C5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CF6C9-3422-0002-0699-AFE97D33B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16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808B5-A8A4-A8E8-CB38-7FBBED0D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2740C-AD6C-FCA8-8AB0-9D2AB7396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3D589-2D17-3670-E613-5D0B4F98E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EEF6E-6039-EADD-A002-D520B87F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E80E7-F216-33FB-2C24-C7AAA1DE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55919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3BFE9-2ABD-D7A4-895B-F1E47163D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F55C1-E0BB-EFAA-AC56-DFCE479C9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67C54-B536-8F90-AD59-82F5EB84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3220A-412E-E09D-1F3C-F110E152B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C9680-36D0-545B-F18C-E8B3CA022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30559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05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8F4E2D-819E-0FB5-F35A-F84D5DE03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B822DD-B64C-FCB5-27F4-C145CB222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3B6C2-BF86-5508-6ECA-4F4891C9D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9/22/2026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37C0B-FDC3-622C-F566-B53846F525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0A5B4-38AF-46AE-4689-301120C807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10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  <p:sldLayoutId id="214748401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D93E188A-17EE-A037-6CFA-374EE73260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161505" y="-419568"/>
            <a:ext cx="9868989" cy="72775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2000" y="200406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62000" y="2331720"/>
            <a:ext cx="975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dirty="0">
                <a:solidFill>
                  <a:schemeClr val="accent6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Analytics &amp; Prediction Using Public Data</a:t>
            </a:r>
            <a:endParaRPr lang="en-US" sz="3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62000" y="3825240"/>
            <a:ext cx="1066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and MLOps  |  Individual Project  |  Part 1: Data Pipeline Implementation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2000" y="4450080"/>
            <a:ext cx="5608320" cy="1097280"/>
          </a:xfrm>
          <a:prstGeom prst="roundRect">
            <a:avLst>
              <a:gd name="adj" fmla="val 8333"/>
            </a:avLst>
          </a:prstGeom>
          <a:gradFill flip="none" rotWithShape="1">
            <a:gsLst>
              <a:gs pos="71000">
                <a:schemeClr val="accent2">
                  <a:lumMod val="40000"/>
                  <a:lumOff val="60000"/>
                </a:schemeClr>
              </a:gs>
              <a:gs pos="19000">
                <a:schemeClr val="bg1">
                  <a:lumMod val="95000"/>
                </a:schemeClr>
              </a:gs>
              <a:gs pos="26000">
                <a:schemeClr val="bg1">
                  <a:lumMod val="9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9525">
            <a:solidFill>
              <a:srgbClr val="D9DDE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36320" y="4709160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251460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 MOHNISH JAKHAR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036320" y="4998720"/>
            <a:ext cx="152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USN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2514600" y="499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  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1CR23AI066</a:t>
            </a:r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534400" y="63093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CMRIT, Bengaluru</a:t>
            </a:r>
            <a:endParaRPr lang="en-US" sz="9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3EC240B-BEA1-B982-CF42-6443110DD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576" y="278130"/>
            <a:ext cx="2181497" cy="1546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Project Overview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75360" y="1798320"/>
            <a:ext cx="4572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75360" y="211836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30-day readmissions are costly and hard to spot early. Hospitals need a reliable, privacy-safe view of who is readmitted, why, and which patients are high risk.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975360" y="3200400"/>
            <a:ext cx="4572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Part 1 delivers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75360" y="3535680"/>
            <a:ext cx="5334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ingestion with segregated raw zones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Cleaning, validation and integration on a patient-safe surrogate key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healthcare mart orchestrated by Apache Airflow</a:t>
            </a:r>
            <a:endParaRPr lang="en-US" sz="10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Streamlit dashboard with 6 analytical views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05600" y="1828800"/>
            <a:ext cx="1889760" cy="1706880"/>
          </a:xfrm>
          <a:prstGeom prst="roundRect">
            <a:avLst>
              <a:gd name="adj" fmla="val 4464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0" y="2164080"/>
            <a:ext cx="188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705600" y="2987040"/>
            <a:ext cx="1889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source types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778240" y="1828800"/>
            <a:ext cx="1889760" cy="1706880"/>
          </a:xfrm>
          <a:prstGeom prst="roundRect">
            <a:avLst>
              <a:gd name="adj" fmla="val 4464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78240" y="2164080"/>
            <a:ext cx="188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2987040"/>
            <a:ext cx="1889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 tables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05600" y="3779520"/>
            <a:ext cx="1889760" cy="1706880"/>
          </a:xfrm>
          <a:prstGeom prst="roundRect">
            <a:avLst>
              <a:gd name="adj" fmla="val 4464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0" y="4114800"/>
            <a:ext cx="188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6705600" y="4937760"/>
            <a:ext cx="1889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views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778240" y="3779520"/>
            <a:ext cx="1889760" cy="1706880"/>
          </a:xfrm>
          <a:prstGeom prst="roundRect">
            <a:avLst>
              <a:gd name="adj" fmla="val 4464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778240" y="4114800"/>
            <a:ext cx="18897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4937760"/>
            <a:ext cx="188976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filters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75360" y="5669280"/>
            <a:ext cx="7620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de-identified public data is used; no personal patient information.</a:t>
            </a:r>
            <a:endParaRPr lang="en-US" sz="900" dirty="0"/>
          </a:p>
        </p:txBody>
      </p:sp>
      <p:sp>
        <p:nvSpPr>
          <p:cNvPr id="29" name="Shape 0">
            <a:extLst>
              <a:ext uri="{FF2B5EF4-FFF2-40B4-BE49-F238E27FC236}">
                <a16:creationId xmlns:a16="http://schemas.microsoft.com/office/drawing/2014/main" id="{1EF4DC36-4602-23A1-1B82-20F25B0A1D95}"/>
              </a:ext>
            </a:extLst>
          </p:cNvPr>
          <p:cNvSpPr/>
          <p:nvPr/>
        </p:nvSpPr>
        <p:spPr>
          <a:xfrm>
            <a:off x="0" y="-2177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1" name="Shape 4">
            <a:extLst>
              <a:ext uri="{FF2B5EF4-FFF2-40B4-BE49-F238E27FC236}">
                <a16:creationId xmlns:a16="http://schemas.microsoft.com/office/drawing/2014/main" id="{6730351D-A10E-34C9-142C-B85EF8681017}"/>
              </a:ext>
            </a:extLst>
          </p:cNvPr>
          <p:cNvSpPr/>
          <p:nvPr/>
        </p:nvSpPr>
        <p:spPr>
          <a:xfrm>
            <a:off x="609600" y="11963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Dataset &amp; Data Sources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3440" y="1706880"/>
            <a:ext cx="3352800" cy="371856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844040"/>
            <a:ext cx="1889760" cy="304800"/>
          </a:xfrm>
          <a:prstGeom prst="roundRect">
            <a:avLst>
              <a:gd name="adj" fmla="val 50000"/>
            </a:avLst>
          </a:prstGeom>
          <a:solidFill>
            <a:srgbClr val="E1E4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844040"/>
            <a:ext cx="1889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1  |  FILE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28600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Diabetes 130-US Hospitals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834640"/>
            <a:ext cx="304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encounter-level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/ Pandas file read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admission type, discharge disposition, specialty, diagnoses, readmission label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101,766 encounters x 50 attributes (130 hospitals, 1999-2008)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2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download, UCI ML Repository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450080" y="1706880"/>
            <a:ext cx="3352800" cy="371856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2480" y="1844040"/>
            <a:ext cx="1981200" cy="304800"/>
          </a:xfrm>
          <a:prstGeom prst="roundRect">
            <a:avLst>
              <a:gd name="adj" fmla="val 50000"/>
            </a:avLst>
          </a:prstGeom>
          <a:solidFill>
            <a:srgbClr val="D5F3E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02480" y="1844040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2  |  REST API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4602480" y="228600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NLM Clinical Tables ICD-9-CM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602480" y="2834640"/>
            <a:ext cx="304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B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over HTTPS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B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API calls per diagnosis code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B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ICD-9 code, official diagnosis description, lookup status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B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lookup per distinct primary diagnosis code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0B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public API, no key needed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46720" y="1706880"/>
            <a:ext cx="3352800" cy="371856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99120" y="1844040"/>
            <a:ext cx="2103120" cy="304800"/>
          </a:xfrm>
          <a:prstGeom prst="roundRect">
            <a:avLst>
              <a:gd name="adj" fmla="val 50000"/>
            </a:avLst>
          </a:prstGeom>
          <a:solidFill>
            <a:srgbClr val="FDEBC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199120" y="1844040"/>
            <a:ext cx="2103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3  |  DOCUMENTS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8199120" y="2286000"/>
            <a:ext cx="30480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Feedback &amp; Discharge Notes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199120" y="2834640"/>
            <a:ext cx="30480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Unstructured text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ingestion + NLP keyword scoring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risk_keyword_score, feedback_available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coverage, tracked as 'Notes Linked %'</a:t>
            </a:r>
            <a:endParaRPr lang="en-US" sz="8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Access: </a:t>
            </a: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Student-generated, no real patient data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09600" y="5791200"/>
            <a:ext cx="10972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key: surrogate_key (patient-safe)   |   Each source keeps its own raw zone   |   DB credentials via environment variable (DATABASE_URL)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Proposed Data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4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38200" y="1706880"/>
            <a:ext cx="149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1706880"/>
            <a:ext cx="152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ZONES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4358640" y="1706880"/>
            <a:ext cx="152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MAP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6111240" y="1706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1706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MART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9616440" y="170688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38200" y="2011680"/>
            <a:ext cx="1493520" cy="838200"/>
          </a:xfrm>
          <a:prstGeom prst="roundRect">
            <a:avLst>
              <a:gd name="adj" fmla="val 7273"/>
            </a:avLst>
          </a:prstGeom>
          <a:solidFill>
            <a:srgbClr val="E1E4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8200" y="2011680"/>
            <a:ext cx="14935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B3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Encounters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file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0" y="2011680"/>
            <a:ext cx="1524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201168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raw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ingest metadata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58640" y="2011680"/>
            <a:ext cx="1524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50080" y="2011680"/>
            <a:ext cx="13411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codes, dedupe, standardize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362200" y="2423160"/>
            <a:ext cx="16764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114800" y="2423160"/>
            <a:ext cx="21336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13120" y="2423160"/>
            <a:ext cx="16764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38200" y="3002280"/>
            <a:ext cx="1493520" cy="838200"/>
          </a:xfrm>
          <a:prstGeom prst="roundRect">
            <a:avLst>
              <a:gd name="adj" fmla="val 7273"/>
            </a:avLst>
          </a:prstGeom>
          <a:solidFill>
            <a:srgbClr val="D5F3E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8200" y="3002280"/>
            <a:ext cx="14935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NLM ICD-9 API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JSON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560320" y="3002280"/>
            <a:ext cx="1524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560320" y="300228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raw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ingest metadata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358640" y="3002280"/>
            <a:ext cx="1524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50080" y="3002280"/>
            <a:ext cx="13411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code, flag lookup status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362200" y="3413760"/>
            <a:ext cx="16764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114800" y="3413760"/>
            <a:ext cx="21336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913120" y="3413760"/>
            <a:ext cx="16764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38200" y="3977640"/>
            <a:ext cx="1493520" cy="838200"/>
          </a:xfrm>
          <a:prstGeom prst="roundRect">
            <a:avLst>
              <a:gd name="adj" fmla="val 7273"/>
            </a:avLst>
          </a:prstGeom>
          <a:solidFill>
            <a:srgbClr val="FDEBC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8200" y="3977640"/>
            <a:ext cx="14935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A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Notes</a:t>
            </a:r>
            <a:endParaRPr lang="en-US" sz="8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documents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560320" y="3977640"/>
            <a:ext cx="1524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560320" y="3977640"/>
            <a:ext cx="1524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raw</a:t>
            </a:r>
            <a:endParaRPr lang="en-US" sz="85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ingest metadata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358640" y="3977640"/>
            <a:ext cx="1524000" cy="83820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450080" y="3977640"/>
            <a:ext cx="134112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text, keyword score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362200" y="4389120"/>
            <a:ext cx="16764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114800" y="4389120"/>
            <a:ext cx="21336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913120" y="4389120"/>
            <a:ext cx="16764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111240" y="2011680"/>
            <a:ext cx="1508760" cy="2804160"/>
          </a:xfrm>
          <a:prstGeom prst="roundRect">
            <a:avLst>
              <a:gd name="adj" fmla="val 4040"/>
            </a:avLst>
          </a:prstGeom>
          <a:solidFill>
            <a:srgbClr val="FDEEDC"/>
          </a:solidFill>
          <a:ln w="9525">
            <a:solidFill>
              <a:srgbClr val="F2C89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172200" y="2011680"/>
            <a:ext cx="1386840" cy="280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on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8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surrogate_key</a:t>
            </a:r>
            <a:endParaRPr lang="en-US" sz="85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notes stay NULL + flag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63840" y="2011680"/>
            <a:ext cx="1508760" cy="2804160"/>
          </a:xfrm>
          <a:prstGeom prst="roundRect">
            <a:avLst>
              <a:gd name="adj" fmla="val 4040"/>
            </a:avLst>
          </a:prstGeom>
          <a:solidFill>
            <a:srgbClr val="E9EDF4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894320" y="2011680"/>
            <a:ext cx="1447800" cy="280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readmissions</a:t>
            </a:r>
            <a:endParaRPr lang="en-US" sz="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</a:t>
            </a:r>
            <a:endParaRPr lang="en-US" sz="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diagnosis_reference</a:t>
            </a:r>
            <a:endParaRPr lang="en-US" sz="8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specialty_feedback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9616440" y="2011680"/>
            <a:ext cx="1508760" cy="2804160"/>
          </a:xfrm>
          <a:prstGeom prst="roundRect">
            <a:avLst>
              <a:gd name="adj" fmla="val 4040"/>
            </a:avLst>
          </a:prstGeom>
          <a:solidFill>
            <a:srgbClr val="FDE8E6"/>
          </a:solidFill>
          <a:ln w="9525">
            <a:solidFill>
              <a:srgbClr val="F0B9B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616440" y="2011680"/>
            <a:ext cx="1508760" cy="280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8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views</a:t>
            </a:r>
            <a:endParaRPr lang="en-US" sz="8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filters</a:t>
            </a:r>
            <a:endParaRPr lang="en-US" sz="85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KPI cards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650480" y="3413760"/>
            <a:ext cx="18288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403080" y="3413760"/>
            <a:ext cx="18288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838200" y="5013960"/>
            <a:ext cx="8534400" cy="457200"/>
          </a:xfrm>
          <a:prstGeom prst="roundRect">
            <a:avLst>
              <a:gd name="adj" fmla="val 13333"/>
            </a:avLst>
          </a:prstGeom>
          <a:solidFill>
            <a:srgbClr val="1B365D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38200" y="5013960"/>
            <a:ext cx="853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Airflow DAG: ingest  &gt;  validate  &gt;  transform  &gt;  load (scheduled, repeatable, logged)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9616440" y="5013960"/>
            <a:ext cx="1508760" cy="4572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C8321F"/>
            </a:solidFill>
            <a:prstDash val="dash"/>
          </a:ln>
        </p:spPr>
      </p:sp>
      <p:sp>
        <p:nvSpPr>
          <p:cNvPr id="55" name="Text 53"/>
          <p:cNvSpPr txBox="1"/>
          <p:nvPr/>
        </p:nvSpPr>
        <p:spPr>
          <a:xfrm>
            <a:off x="9616440" y="5013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MLOps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609600" y="5760720"/>
            <a:ext cx="10972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stay identifiable in separate raw zones until integration; only cleaned, validated data reaches the mart.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Data Ingestion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5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3440" y="1828800"/>
            <a:ext cx="1889760" cy="2682240"/>
          </a:xfrm>
          <a:prstGeom prst="roundRect">
            <a:avLst>
              <a:gd name="adj" fmla="val 4839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0600" y="1950720"/>
            <a:ext cx="457200" cy="4572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0600" y="195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90600" y="2529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90600" y="2926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reads the CSV; Python calls the NLM API; note documents are read from disk.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73680" y="3169920"/>
            <a:ext cx="167640" cy="0"/>
          </a:xfrm>
          <a:prstGeom prst="line">
            <a:avLst/>
          </a:prstGeom>
          <a:noFill/>
          <a:ln w="15875">
            <a:solidFill>
              <a:srgbClr val="C8321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48940" y="1828800"/>
            <a:ext cx="1889760" cy="2682240"/>
          </a:xfrm>
          <a:prstGeom prst="roundRect">
            <a:avLst>
              <a:gd name="adj" fmla="val 4839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86100" y="1950720"/>
            <a:ext cx="457200" cy="4572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086100" y="195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086100" y="2529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metadata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086100" y="2926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run records source, extraction date, file/API status and row count.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69180" y="3169920"/>
            <a:ext cx="167640" cy="0"/>
          </a:xfrm>
          <a:prstGeom prst="line">
            <a:avLst/>
          </a:prstGeom>
          <a:noFill/>
          <a:ln w="15875">
            <a:solidFill>
              <a:srgbClr val="C8321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044440" y="1828800"/>
            <a:ext cx="1889760" cy="2682240"/>
          </a:xfrm>
          <a:prstGeom prst="roundRect">
            <a:avLst>
              <a:gd name="adj" fmla="val 4839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81600" y="1950720"/>
            <a:ext cx="457200" cy="4572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181600" y="195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181600" y="2529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raw copy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81600" y="2926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Untouched extract saved in a separate raw zone per source.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964680" y="3169920"/>
            <a:ext cx="167640" cy="0"/>
          </a:xfrm>
          <a:prstGeom prst="line">
            <a:avLst/>
          </a:prstGeom>
          <a:noFill/>
          <a:ln w="15875">
            <a:solidFill>
              <a:srgbClr val="C8321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39940" y="1828800"/>
            <a:ext cx="1889760" cy="2682240"/>
          </a:xfrm>
          <a:prstGeom prst="roundRect">
            <a:avLst>
              <a:gd name="adj" fmla="val 4839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77100" y="1950720"/>
            <a:ext cx="457200" cy="4572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277100" y="195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277100" y="2529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277100" y="2926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DAG schedules the run; re-runs are repeatable.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060180" y="3169920"/>
            <a:ext cx="167640" cy="0"/>
          </a:xfrm>
          <a:prstGeom prst="line">
            <a:avLst/>
          </a:prstGeom>
          <a:noFill/>
          <a:ln w="15875">
            <a:solidFill>
              <a:srgbClr val="C8321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235440" y="1828800"/>
            <a:ext cx="1889760" cy="2682240"/>
          </a:xfrm>
          <a:prstGeom prst="roundRect">
            <a:avLst>
              <a:gd name="adj" fmla="val 4839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72600" y="1950720"/>
            <a:ext cx="457200" cy="4572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372600" y="1950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9372600" y="2529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errors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372600" y="292608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lookups and bad records are logged, flagged and retried, not dropped silently.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53440" y="4754880"/>
            <a:ext cx="10485120" cy="1036320"/>
          </a:xfrm>
          <a:prstGeom prst="roundRect">
            <a:avLst>
              <a:gd name="adj" fmla="val 7353"/>
            </a:avLst>
          </a:prstGeom>
          <a:solidFill>
            <a:srgbClr val="EDF1F6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97280" y="4754880"/>
            <a:ext cx="100584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metadata kept per source:  </a:t>
            </a: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name  |  ingestion time  |  file / API status  |  row count</a:t>
            </a:r>
            <a:endParaRPr lang="en-US" sz="9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9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 </a:t>
            </a: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credentials come from the DATABASE_URL environment variable; nothing is hard-coded.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ETL &amp; Data Quality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37360"/>
            <a:ext cx="487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&amp; transformation rules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133600"/>
            <a:ext cx="47244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special missing-value codes with NULL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age, admission type, discharge disposition and diagnosis fields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 and invalid encounters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patient-safe surrogate_key (no direct identifiers)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mandatory vs optional fields before load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failures to rejected-record / error log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737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Missing-data strategy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2087880"/>
          <a:ext cx="5120640" cy="3291840"/>
        </p:xfrm>
        <a:graphic>
          <a:graphicData uri="http://schemas.openxmlformats.org/drawingml/2006/table">
            <a:tbl>
              <a:tblPr/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Situation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discharge note for encounter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Keep NULL, set feedback_available = 0 (never 0-fill)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returns no diagnosis match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Record diag_1_lookup_status, retry, exclude from diagnosis chart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 code in source CSV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Convert to NULL, keep raw copy for traceability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 feature absent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Leave NULL; impute only if a model needs it (Part 2)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Database / Star Schema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99160" y="1752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9160" y="1752600"/>
            <a:ext cx="2697480" cy="3657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752600"/>
            <a:ext cx="254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179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&amp; discharge detail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surrogate_key (FK)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/ discharge fields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12920" y="1752600"/>
            <a:ext cx="355092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C8321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2920" y="1752600"/>
            <a:ext cx="3550920" cy="36576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19600" y="1752600"/>
            <a:ext cx="339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readmissions  (fact)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419600" y="2179320"/>
            <a:ext cx="3368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encounter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surrogate_key (PK)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readmitted_30d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length_of_stay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prior_admissions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diagnosis_count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high_risk_flag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age_group, medical_specialty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admission_type_name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discharge_disposition_name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feedback_available, risk_keyword_score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580120" y="1752600"/>
            <a:ext cx="26974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1B365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80120" y="1752600"/>
            <a:ext cx="2697480" cy="36576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0" y="1752600"/>
            <a:ext cx="254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2179320"/>
            <a:ext cx="2514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diagnosis per encounter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surrogate_key (FK)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diag_1, diag_1_description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diag_1_lookup_status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99160" y="35814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554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9160" y="3581400"/>
            <a:ext cx="2697480" cy="365760"/>
          </a:xfrm>
          <a:prstGeom prst="rect">
            <a:avLst/>
          </a:prstGeom>
          <a:solidFill>
            <a:srgbClr val="B5540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3581400"/>
            <a:ext cx="254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specialty_feedback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0081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3: document signal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specialty-level feedback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risk score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580120" y="358140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0B7A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80120" y="3581400"/>
            <a:ext cx="2697480" cy="365760"/>
          </a:xfrm>
          <a:prstGeom prst="rect">
            <a:avLst/>
          </a:prstGeom>
          <a:solidFill>
            <a:srgbClr val="0B7A5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0" y="3581400"/>
            <a:ext cx="254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diagnosis_reference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686800" y="40081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7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2: NLM ICD-9 lookup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ICD-9 code</a:t>
            </a:r>
            <a:endParaRPr lang="en-US" sz="8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description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11880" y="2560320"/>
            <a:ext cx="68580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H="1">
            <a:off x="7863840" y="2560320"/>
            <a:ext cx="70104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611880" y="4389120"/>
            <a:ext cx="68580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9936480" y="3368040"/>
            <a:ext cx="0" cy="19812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596640" y="2407920"/>
            <a:ext cx="762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surrogate_key</a:t>
            </a:r>
            <a:endParaRPr lang="en-US" sz="6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407920"/>
            <a:ext cx="762000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surrogate_key</a:t>
            </a:r>
            <a:endParaRPr lang="en-US" sz="600" dirty="0"/>
          </a:p>
        </p:txBody>
      </p:sp>
      <p:sp>
        <p:nvSpPr>
          <p:cNvPr id="37" name="Text 35"/>
          <p:cNvSpPr txBox="1"/>
          <p:nvPr/>
        </p:nvSpPr>
        <p:spPr>
          <a:xfrm>
            <a:off x="609600" y="5577840"/>
            <a:ext cx="10972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Fact-centred (star-style) mart. surrogate_key is the patient-safe join key; diag_1 links to the ICD-9 reference.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Feature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8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29640" y="1722120"/>
          <a:ext cx="10347960" cy="3962400"/>
        </p:xfrm>
        <a:graphic>
          <a:graphicData uri="http://schemas.openxmlformats.org/drawingml/2006/table">
            <a:tbl>
              <a:tblPr/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68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Origin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 / purpose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readmitted_30d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label: readmitted within 30 days (1) or not (0)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length_of_stay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Days spent in hospital per encounter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prior_admissions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of earlier admissions for the patient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diagnosis_count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documented diagnoses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high_risk_flag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when prior_admissions &gt;= 2 and diagnosis_count &gt;= 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age_group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Standardized age bracket for cohort analysis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diag_1_description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Official ICD-9 description of the primary diagnosis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risk_keyword_score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 of risk keywords found in the discharge note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36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feedback_available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a note is linked, 0 if missing (NULL kept)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F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Dashboard &amp; Analytics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9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3440" y="1706880"/>
            <a:ext cx="3352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4880" y="1844040"/>
            <a:ext cx="3200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Readmission rate by age group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44880" y="2164080"/>
            <a:ext cx="316992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944880" y="216408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Streamlit screenshot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89120" y="1706880"/>
            <a:ext cx="3352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1844040"/>
            <a:ext cx="3200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Readmission by diagnosis (NLM API)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480560" y="2164080"/>
            <a:ext cx="316992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4480560" y="216408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Streamlit screenshot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924800" y="1706880"/>
            <a:ext cx="3352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16240" y="1844040"/>
            <a:ext cx="3200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Length-of-stay distribution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016240" y="2164080"/>
            <a:ext cx="316992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8016240" y="216408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Streamlit screenshot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53440" y="3901440"/>
            <a:ext cx="3352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4880" y="4038600"/>
            <a:ext cx="3200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Admission types &amp; discharge dispositions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44880" y="4358640"/>
            <a:ext cx="316992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944880" y="435864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Streamlit screenshot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389120" y="3901440"/>
            <a:ext cx="3352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80560" y="4038600"/>
            <a:ext cx="3200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High-risk cohort table &amp; risk multiplier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80560" y="4358640"/>
            <a:ext cx="316992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480560" y="435864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Streamlit screenshot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924800" y="3901440"/>
            <a:ext cx="33528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16240" y="4038600"/>
            <a:ext cx="3200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Discharge-note risk signal (Source 3)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16240" y="4358640"/>
            <a:ext cx="3169920" cy="146304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8016240" y="4358640"/>
            <a:ext cx="3169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Streamlit screenshot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09600" y="6004560"/>
            <a:ext cx="10972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filters: Medical Specialty  |  Age Group  |  Clinical Risk Tier  |  Admission Type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35B86AA0-BB28-156A-6E74-CE5B976A3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164080"/>
            <a:ext cx="3169920" cy="146304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5095951-F062-0046-204A-B86552B1C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126" y="2164080"/>
            <a:ext cx="3173771" cy="145944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EA8258C-5235-C4B5-094C-138D386B9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239" y="2164079"/>
            <a:ext cx="3169919" cy="146304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915A2B7-4A11-31EB-D8AC-F033362C89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880" y="4343400"/>
            <a:ext cx="3169920" cy="147828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47F5712-6F8F-984D-A42B-29E97E7AB6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0559" y="4347810"/>
            <a:ext cx="3169337" cy="146304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773F0DF-44CA-C49A-C91E-F3C7F3DDE6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531" y="4358641"/>
            <a:ext cx="3184627" cy="14522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Pipeline Execution Evidence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3440" y="1706880"/>
            <a:ext cx="5181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798320"/>
            <a:ext cx="304800" cy="3048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05840" y="179832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432560" y="1798320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DAG: successful run, all tasks green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5360" y="2194560"/>
            <a:ext cx="4937760" cy="143256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16" name="Text 14"/>
          <p:cNvSpPr txBox="1"/>
          <p:nvPr/>
        </p:nvSpPr>
        <p:spPr>
          <a:xfrm>
            <a:off x="975360" y="2194560"/>
            <a:ext cx="493776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/ log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56960" y="1706880"/>
            <a:ext cx="5181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1798320"/>
            <a:ext cx="304800" cy="3048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09360" y="179832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736080" y="1798320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log: source, date, status, row count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78880" y="2194560"/>
            <a:ext cx="4937760" cy="143256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278880" y="2194560"/>
            <a:ext cx="493776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/ log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53440" y="3901440"/>
            <a:ext cx="5181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3992880"/>
            <a:ext cx="304800" cy="3048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05840" y="399288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432560" y="3992880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PostgreSQL: populated mart tables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975360" y="4389120"/>
            <a:ext cx="4937760" cy="143256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975360" y="4389120"/>
            <a:ext cx="493776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/ log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56960" y="3901440"/>
            <a:ext cx="51816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3992880"/>
            <a:ext cx="304800" cy="304800"/>
          </a:xfrm>
          <a:prstGeom prst="ellipse">
            <a:avLst/>
          </a:prstGeom>
          <a:solidFill>
            <a:srgbClr val="C8321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09360" y="399288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6736080" y="3992880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dashboard: final output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78880" y="4389120"/>
            <a:ext cx="4937760" cy="1432560"/>
          </a:xfrm>
          <a:prstGeom prst="rect">
            <a:avLst/>
          </a:prstGeom>
          <a:solidFill>
            <a:srgbClr val="F1F3F6"/>
          </a:solidFill>
          <a:ln w="9525">
            <a:solidFill>
              <a:srgbClr val="A8B0BF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278880" y="4389120"/>
            <a:ext cx="4937760" cy="1432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screenshot / log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09600" y="6004560"/>
            <a:ext cx="10972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end-to-end run: ingestion  &gt;  raw  &gt;  validation  &gt;  transformation  &gt;  PostgreSQL  &gt;  dashboard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2AB71B4-72F1-2992-C5B8-6939EDEC2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80" y="4389120"/>
            <a:ext cx="4937760" cy="1432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MLOps Extension – Part 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412480" y="1645920"/>
            <a:ext cx="2865120" cy="320040"/>
          </a:xfrm>
          <a:prstGeom prst="roundRect">
            <a:avLst>
              <a:gd name="adj" fmla="val 47619"/>
            </a:avLst>
          </a:prstGeom>
          <a:solidFill>
            <a:srgbClr val="FDE8E6"/>
          </a:solidFill>
          <a:ln w="9525">
            <a:solidFill>
              <a:srgbClr val="F5C0B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645920"/>
            <a:ext cx="286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 |  NOT PART OF PART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53440" y="213360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75360" y="228600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definition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75360" y="263652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30-day readmission (readmitted_30d) with a chronological train / validation / test split.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05200" y="213360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27120" y="228600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candidates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627120" y="263652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Random Forest and XGBoost, compared on the same features.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56960" y="213360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78880" y="228600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78880" y="263652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Recall, precision, F1, ROC-AUC and calibration logged with parameters and artifacts.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08720" y="213360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30640" y="228600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930640" y="263652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and version the selected model for controlled promotion.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53440" y="408432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5360" y="423672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Docker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75360" y="458724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predictions via FastAPI in a Docker container; academic decision-support prototype only.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05200" y="408432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627120" y="423672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27120" y="458724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and SHAP to explain individual risk scores.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156960" y="408432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78880" y="423672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278880" y="458724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 quality, drift, calibration, subgroup performance, latency and failures.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808720" y="4084320"/>
            <a:ext cx="2499360" cy="1767840"/>
          </a:xfrm>
          <a:prstGeom prst="roundRect">
            <a:avLst>
              <a:gd name="adj" fmla="val 3448"/>
            </a:avLst>
          </a:prstGeom>
          <a:solidFill>
            <a:srgbClr val="F7F8FA"/>
          </a:solidFill>
          <a:ln w="9525">
            <a:solidFill>
              <a:srgbClr val="D9DDE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930640" y="4236720"/>
            <a:ext cx="2286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Retraining criteria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930640" y="4587240"/>
            <a:ext cx="225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on drift or performance drop; document the full model lifecycle.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Results &amp; Key Insights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53440" y="1706880"/>
            <a:ext cx="2499360" cy="1402080"/>
          </a:xfrm>
          <a:prstGeom prst="roundRect">
            <a:avLst>
              <a:gd name="adj" fmla="val 4348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3440" y="1859280"/>
            <a:ext cx="2499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9.0 %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53440" y="2468880"/>
            <a:ext cx="2499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readmission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05200" y="1706880"/>
            <a:ext cx="2499360" cy="1402080"/>
          </a:xfrm>
          <a:prstGeom prst="roundRect">
            <a:avLst>
              <a:gd name="adj" fmla="val 4348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505200" y="1859280"/>
            <a:ext cx="2499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cs typeface="Arial" pitchFamily="34" charset="-120"/>
              </a:rPr>
              <a:t>6,602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505200" y="2468880"/>
            <a:ext cx="2499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risk multiplier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56960" y="1706880"/>
            <a:ext cx="2499360" cy="1402080"/>
          </a:xfrm>
          <a:prstGeom prst="roundRect">
            <a:avLst>
              <a:gd name="adj" fmla="val 4348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56960" y="1859280"/>
            <a:ext cx="2499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days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156960" y="2468880"/>
            <a:ext cx="2499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length of stay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08720" y="1706880"/>
            <a:ext cx="2499360" cy="1402080"/>
          </a:xfrm>
          <a:prstGeom prst="roundRect">
            <a:avLst>
              <a:gd name="adj" fmla="val 4348"/>
            </a:avLst>
          </a:prstGeom>
          <a:solidFill>
            <a:srgbClr val="FDF1E3"/>
          </a:solidFill>
          <a:ln w="9525">
            <a:solidFill>
              <a:srgbClr val="F7DFC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808720" y="1859280"/>
            <a:ext cx="249936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47.3 %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808720" y="2468880"/>
            <a:ext cx="24993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notes linked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3352800"/>
            <a:ext cx="1036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source types were integrated on one patient-safe key into a single healthcare mart.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views by age, diagnosis, length of stay, admission and discharge show where readmissions concentrate.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High-risk cohort (2+ prior admissions and 7+ diagnoses) is compared with the normal cohort using a risk multiplier.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Discharge-note keyword score is tracked against readmission rate as an early-warning signal.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Challenges &amp; Learning Outcomes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99160" y="170688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5547360" y="1706880"/>
            <a:ext cx="304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WAS SOLVED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38200" y="1965960"/>
            <a:ext cx="4358640" cy="640080"/>
          </a:xfrm>
          <a:prstGeom prst="roundRect">
            <a:avLst>
              <a:gd name="adj" fmla="val 9524"/>
            </a:avLst>
          </a:prstGeom>
          <a:solidFill>
            <a:srgbClr val="FDE8E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5360" y="1965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different formats (CSV, JSON, text)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242560" y="2286000"/>
            <a:ext cx="21336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32120" y="1965960"/>
            <a:ext cx="5821680" cy="640080"/>
          </a:xfrm>
          <a:prstGeom prst="roundRect">
            <a:avLst>
              <a:gd name="adj" fmla="val 9524"/>
            </a:avLst>
          </a:prstGeom>
          <a:solidFill>
            <a:srgbClr val="EAF5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669280" y="19659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ingestion and raw zone per source, then map to one surrogate_key.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38200" y="2697480"/>
            <a:ext cx="4358640" cy="640080"/>
          </a:xfrm>
          <a:prstGeom prst="roundRect">
            <a:avLst>
              <a:gd name="adj" fmla="val 9524"/>
            </a:avLst>
          </a:prstGeom>
          <a:solidFill>
            <a:srgbClr val="FDE8E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75360" y="26974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encounter has a discharge note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42560" y="3017520"/>
            <a:ext cx="21336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532120" y="2697480"/>
            <a:ext cx="5821680" cy="640080"/>
          </a:xfrm>
          <a:prstGeom prst="roundRect">
            <a:avLst>
              <a:gd name="adj" fmla="val 9524"/>
            </a:avLst>
          </a:prstGeom>
          <a:solidFill>
            <a:srgbClr val="EAF5E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69280" y="26974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NULL with feedback_available flag instead of filling zeros.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38200" y="3429000"/>
            <a:ext cx="4358640" cy="640080"/>
          </a:xfrm>
          <a:prstGeom prst="roundRect">
            <a:avLst>
              <a:gd name="adj" fmla="val 9524"/>
            </a:avLst>
          </a:prstGeom>
          <a:solidFill>
            <a:srgbClr val="FDE8E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5360" y="3429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lookups can fail or find no match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42560" y="3749040"/>
            <a:ext cx="21336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32120" y="3429000"/>
            <a:ext cx="5821680" cy="640080"/>
          </a:xfrm>
          <a:prstGeom prst="roundRect">
            <a:avLst>
              <a:gd name="adj" fmla="val 9524"/>
            </a:avLst>
          </a:prstGeom>
          <a:solidFill>
            <a:srgbClr val="EAF5E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669280" y="34290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diag_1_lookup_status records the outcome; only described diagnoses are charted.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38200" y="4160520"/>
            <a:ext cx="4358640" cy="640080"/>
          </a:xfrm>
          <a:prstGeom prst="roundRect">
            <a:avLst>
              <a:gd name="adj" fmla="val 9524"/>
            </a:avLst>
          </a:prstGeom>
          <a:solidFill>
            <a:srgbClr val="FDE8E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75360" y="4160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code for dev and production databases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242560" y="4480560"/>
            <a:ext cx="213360" cy="0"/>
          </a:xfrm>
          <a:prstGeom prst="line">
            <a:avLst/>
          </a:prstGeom>
          <a:noFill/>
          <a:ln w="15875">
            <a:solidFill>
              <a:srgbClr val="8A93A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532120" y="4160520"/>
            <a:ext cx="5821680" cy="640080"/>
          </a:xfrm>
          <a:prstGeom prst="roundRect">
            <a:avLst>
              <a:gd name="adj" fmla="val 9524"/>
            </a:avLst>
          </a:prstGeom>
          <a:solidFill>
            <a:srgbClr val="EAF5E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0" y="4160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DATABASE_URL selects PostgreSQL; local SQLite fallback; cached reads.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029200"/>
            <a:ext cx="45720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learning outcomes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9160" y="5364480"/>
            <a:ext cx="1965960" cy="304800"/>
          </a:xfrm>
          <a:prstGeom prst="roundRect">
            <a:avLst>
              <a:gd name="adj" fmla="val 50000"/>
            </a:avLst>
          </a:prstGeom>
          <a:solidFill>
            <a:srgbClr val="E5EAF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99160" y="5364480"/>
            <a:ext cx="1965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Multi-source ingestion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009900" y="5364480"/>
            <a:ext cx="1965960" cy="304800"/>
          </a:xfrm>
          <a:prstGeom prst="roundRect">
            <a:avLst>
              <a:gd name="adj" fmla="val 50000"/>
            </a:avLst>
          </a:prstGeom>
          <a:solidFill>
            <a:srgbClr val="E5EAF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009900" y="5364480"/>
            <a:ext cx="1965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Missing-data strategy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20640" y="5364480"/>
            <a:ext cx="1965960" cy="304800"/>
          </a:xfrm>
          <a:prstGeom prst="roundRect">
            <a:avLst>
              <a:gd name="adj" fmla="val 50000"/>
            </a:avLst>
          </a:prstGeom>
          <a:solidFill>
            <a:srgbClr val="E5EAF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120640" y="5364480"/>
            <a:ext cx="1965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modelling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7231380" y="5364480"/>
            <a:ext cx="1965960" cy="304800"/>
          </a:xfrm>
          <a:prstGeom prst="roundRect">
            <a:avLst>
              <a:gd name="adj" fmla="val 50000"/>
            </a:avLst>
          </a:prstGeom>
          <a:solidFill>
            <a:srgbClr val="E5EAF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231380" y="5364480"/>
            <a:ext cx="1965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orchestration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342120" y="5364480"/>
            <a:ext cx="1965960" cy="304800"/>
          </a:xfrm>
          <a:prstGeom prst="roundRect">
            <a:avLst>
              <a:gd name="adj" fmla="val 50000"/>
            </a:avLst>
          </a:prstGeom>
          <a:solidFill>
            <a:srgbClr val="E5EAF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342120" y="5364480"/>
            <a:ext cx="19659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analytics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Conclusion &amp; Future Scope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14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37360"/>
            <a:ext cx="487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achieved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103120"/>
            <a:ext cx="50292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Ingested 3 heterogeneous sources into segregated raw zones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Cleaned, validated and integrated data on a patient-safe key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a PostgreSQL healthcare mart via an Airflow-orchestrated ETL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an interactive dashboard with 6 views and 4 filters</a:t>
            </a:r>
            <a:endParaRPr lang="en-US" sz="10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missing data transparently with flags, not zeros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1706880"/>
            <a:ext cx="5059680" cy="4145280"/>
          </a:xfrm>
          <a:prstGeom prst="roundRect">
            <a:avLst>
              <a:gd name="adj" fmla="val 2206"/>
            </a:avLst>
          </a:prstGeom>
          <a:solidFill>
            <a:srgbClr val="E9EDF4"/>
          </a:solidFill>
          <a:ln w="9525">
            <a:solidFill>
              <a:srgbClr val="C9D1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1760" y="185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61760" y="2225040"/>
            <a:ext cx="457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train and compare Logistic Regression, Random Forest, XGBoost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tracking, model registry, FastAPI and Docker serving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explainability and subgroup fairness checks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and calibration monitoring with retraining triggers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sources such as MIMIC-IV (credentialed access)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609600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09600" y="1234440"/>
            <a:ext cx="1249680" cy="60960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24000"/>
            <a:ext cx="10972800" cy="469392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9525">
            <a:solidFill>
              <a:srgbClr val="E2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15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2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103120"/>
            <a:ext cx="4876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Machine Learning Repository: Diabetes 130-US Hospitals for Years 1999-2008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Strack et al. (2014), Impact of HbA1c Measurement on Hospital Readmission Rates, BioMed Research International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NLM Clinical Tables Search Service: ICD-9-CM diagnosis codes (clinicaltables.nlm.nih.gov)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Student-generated clinical feedback / discharge note text (no real patient data)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2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documentation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103120"/>
            <a:ext cx="4876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Pandas, SQLAlchemy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Airflow documentation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documentation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and Plotly documentation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brief: Project 5, Hospital Readmission Analytics and Prediction</a:t>
            </a:r>
            <a:endParaRPr lang="en-US" sz="9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guideline: multi-source segregation and missing-data handling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C8321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289560"/>
            <a:ext cx="79248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1E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 INSTITUTE OF TECHNOLOGY  |  DATA ENGINEERING AND MLOps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534400" y="289560"/>
            <a:ext cx="3048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39710" y="2207373"/>
            <a:ext cx="10972800" cy="13595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609600" y="938472"/>
            <a:ext cx="10972800" cy="45719"/>
          </a:xfrm>
          <a:prstGeom prst="rect">
            <a:avLst/>
          </a:prstGeom>
          <a:solidFill>
            <a:srgbClr val="F08A2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6339840"/>
            <a:ext cx="10972800" cy="0"/>
          </a:xfrm>
          <a:prstGeom prst="line">
            <a:avLst/>
          </a:prstGeom>
          <a:noFill/>
          <a:ln w="9525">
            <a:solidFill>
              <a:srgbClr val="DDE1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9600" y="6446520"/>
            <a:ext cx="60960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9144000" y="6446520"/>
            <a:ext cx="2438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C83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CMRIT</a:t>
            </a: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16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0" y="4694696"/>
            <a:ext cx="1219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Name: MOHNISH JAKHAR   |   USN: 1CR23AI066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2077</Words>
  <Application>Microsoft Office PowerPoint</Application>
  <PresentationFormat>Widescreen</PresentationFormat>
  <Paragraphs>367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Mohnish Jakhar</cp:lastModifiedBy>
  <cp:revision>3</cp:revision>
  <dcterms:created xsi:type="dcterms:W3CDTF">2026-09-21T17:58:11Z</dcterms:created>
  <dcterms:modified xsi:type="dcterms:W3CDTF">2026-09-21T19:04:29Z</dcterms:modified>
</cp:coreProperties>
</file>